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embeddedFontLst>
    <p:embeddedFont>
      <p:font typeface="Noto Serif" panose="02020600060500020200" pitchFamily="18" charset="0"/>
      <p:regular r:id="rId14"/>
    </p:embeddedFont>
    <p:embeddedFont>
      <p:font typeface="Noto Serif Medium" panose="020B0604020202020204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912622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3" Type="http://schemas.openxmlformats.org/officeDocument/2006/relationships/image" Target="../media/image5.svg"/><Relationship Id="rId7" Type="http://schemas.openxmlformats.org/officeDocument/2006/relationships/image" Target="../media/image9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svg"/><Relationship Id="rId4" Type="http://schemas.openxmlformats.org/officeDocument/2006/relationships/image" Target="../media/image17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568797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Customer Shopping Behavior Analysis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667372"/>
            <a:ext cx="472276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Condensed project overview: transactional dataset analysis using Python (Google Collab), Neon PostgreSQL, and Power BI to uncover segments, product preferences, subscription trends, and revenue patterns for actionable business insights.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893043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Abstract &amp; Purpose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3925119" y="1548631"/>
            <a:ext cx="2290465" cy="1506810"/>
          </a:xfrm>
          <a:prstGeom prst="roundRect">
            <a:avLst>
              <a:gd name="adj" fmla="val 3952"/>
            </a:avLst>
          </a:prstGeom>
          <a:solidFill>
            <a:srgbClr val="E6DED2">
              <a:alpha val="50000"/>
            </a:srgbClr>
          </a:solidFill>
          <a:ln w="4763">
            <a:solidFill>
              <a:srgbClr val="CCC4B8"/>
            </a:solidFill>
            <a:prstDash val="solid"/>
          </a:ln>
          <a:effectLst>
            <a:outerShdw blurRad="101600" dist="17780" dir="2700000" algn="bl" rotWithShape="0">
              <a:srgbClr val="CCC4B8">
                <a:alpha val="10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4071640" y="169515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Goal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071640" y="2001664"/>
            <a:ext cx="1997422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Identify customer segments, product preferences, subscription trends, and revenue patterns.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357342" y="1548631"/>
            <a:ext cx="2290539" cy="1506810"/>
          </a:xfrm>
          <a:prstGeom prst="roundRect">
            <a:avLst>
              <a:gd name="adj" fmla="val 3952"/>
            </a:avLst>
          </a:prstGeom>
          <a:solidFill>
            <a:srgbClr val="E6DED2">
              <a:alpha val="50000"/>
            </a:srgbClr>
          </a:solidFill>
          <a:ln w="4763">
            <a:solidFill>
              <a:srgbClr val="CCC4B8"/>
            </a:solidFill>
            <a:prstDash val="solid"/>
          </a:ln>
          <a:effectLst>
            <a:outerShdw blurRad="101600" dist="17780" dir="2700000" algn="bl" rotWithShape="0">
              <a:srgbClr val="CCC4B8">
                <a:alpha val="10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503863" y="169515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Tools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503863" y="2001664"/>
            <a:ext cx="199749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Python in Google Colab, Neon PostgreSQL, Power BI.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925119" y="3197200"/>
            <a:ext cx="4722763" cy="1053182"/>
          </a:xfrm>
          <a:prstGeom prst="roundRect">
            <a:avLst>
              <a:gd name="adj" fmla="val 5654"/>
            </a:avLst>
          </a:prstGeom>
          <a:solidFill>
            <a:srgbClr val="E6DED2">
              <a:alpha val="50000"/>
            </a:srgbClr>
          </a:solidFill>
          <a:ln w="4763">
            <a:solidFill>
              <a:srgbClr val="CCC4B8"/>
            </a:solidFill>
            <a:prstDash val="solid"/>
          </a:ln>
          <a:effectLst>
            <a:outerShdw blurRad="101600" dist="17780" dir="2700000" algn="bl" rotWithShape="0">
              <a:srgbClr val="CCC4B8">
                <a:alpha val="10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071640" y="334372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Outcome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4071640" y="3650233"/>
            <a:ext cx="442972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Dashboards and insights to optimize marketing, retention, and profitability.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13581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Dataset Snapshot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749701" y="2058814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Overview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2422029"/>
            <a:ext cx="43601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Total records: 3,900 · Columns: 18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749701" y="2776389"/>
            <a:ext cx="3902943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Customer ID, Age, Gender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Item Purchased, Category, Purchase Amount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Location, Season, Subscription Status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Shipping Type, Discount, Rating, Frequency</a:t>
            </a:r>
            <a:endParaRPr lang="en-US" sz="11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8A7A343-7CC8-ADFB-20AB-094F9DD554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804" y="1419824"/>
            <a:ext cx="3711262" cy="306350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925119" y="820192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Tools &amp; Tech Stack</a:t>
            </a:r>
            <a:endParaRPr lang="en-US" sz="27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25119" y="1475780"/>
            <a:ext cx="354360" cy="35436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456658" y="147578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Python (Google Collab)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4456658" y="1782291"/>
            <a:ext cx="419122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Pandas, NumPy, Matplotlib, Seaborn for EDA and preprocessing.</a:t>
            </a:r>
            <a:endParaRPr lang="en-US" sz="11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25119" y="2519437"/>
            <a:ext cx="354360" cy="35436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456658" y="251943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Neon PostgreSQL</a:t>
            </a:r>
            <a:endParaRPr lang="en-US" sz="1350" dirty="0"/>
          </a:p>
        </p:txBody>
      </p:sp>
      <p:sp>
        <p:nvSpPr>
          <p:cNvPr id="9" name="Text 4"/>
          <p:cNvSpPr/>
          <p:nvPr/>
        </p:nvSpPr>
        <p:spPr>
          <a:xfrm>
            <a:off x="4456658" y="2825948"/>
            <a:ext cx="419122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Cloud storage and SQL analysis using SQLAlchemy &amp; psycopg2.</a:t>
            </a:r>
            <a:endParaRPr lang="en-US" sz="11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25119" y="3563094"/>
            <a:ext cx="354360" cy="35436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456658" y="356309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Power BI</a:t>
            </a:r>
            <a:endParaRPr lang="en-US" sz="1350" dirty="0"/>
          </a:p>
        </p:txBody>
      </p:sp>
      <p:sp>
        <p:nvSpPr>
          <p:cNvPr id="12" name="Text 6"/>
          <p:cNvSpPr/>
          <p:nvPr/>
        </p:nvSpPr>
        <p:spPr>
          <a:xfrm>
            <a:off x="4456658" y="3869606"/>
            <a:ext cx="419122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Interactive dashboards and visual storytelling for stakeholders.</a:t>
            </a:r>
            <a:endParaRPr lang="en-US" sz="1100" dirty="0"/>
          </a:p>
        </p:txBody>
      </p:sp>
      <p:pic>
        <p:nvPicPr>
          <p:cNvPr id="1026" name="Picture 2" descr="Customize your Gemini agent in Colab">
            <a:extLst>
              <a:ext uri="{FF2B5EF4-FFF2-40B4-BE49-F238E27FC236}">
                <a16:creationId xmlns:a16="http://schemas.microsoft.com/office/drawing/2014/main" id="{64D47DEA-8AE1-98DF-EDBE-E9594A77D4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3747940" cy="18612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Getting Started with Neon (Serverless Postgres) in 10 Minutes - YouTube">
            <a:extLst>
              <a:ext uri="{FF2B5EF4-FFF2-40B4-BE49-F238E27FC236}">
                <a16:creationId xmlns:a16="http://schemas.microsoft.com/office/drawing/2014/main" id="{17C06F79-551F-A7C3-99B7-FE46EDC2DE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861243"/>
            <a:ext cx="3747940" cy="1838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Power BI Desktop | Transform Data into ...">
            <a:extLst>
              <a:ext uri="{FF2B5EF4-FFF2-40B4-BE49-F238E27FC236}">
                <a16:creationId xmlns:a16="http://schemas.microsoft.com/office/drawing/2014/main" id="{38F1ABEA-B3D3-59E4-12C6-D43C3F0192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699803"/>
            <a:ext cx="3747940" cy="1443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34888"/>
            <a:ext cx="5526732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Methodology — Data Pipeline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641" y="1261393"/>
            <a:ext cx="7890644" cy="29609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002209" y="3388901"/>
            <a:ext cx="1190147" cy="4585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Build Dashboards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502299" y="3503534"/>
            <a:ext cx="1190146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Push to Neon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010540" y="3388901"/>
            <a:ext cx="1190146" cy="4585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Clean &amp; Preprocess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2518781" y="3388901"/>
            <a:ext cx="1190146" cy="4585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Load in Colab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94415" y="3503534"/>
            <a:ext cx="1190146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Collect CSV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96119" y="4381798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End-to-end: Kaggle CSV → Colab preprocessing → Neon PostgreSQL storage &amp; SQL → Power BI visualizations.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32271"/>
            <a:ext cx="5257205" cy="422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Data Preparation &amp; Key Steps</a:t>
            </a:r>
            <a:endParaRPr lang="en-US" sz="2650" dirty="0"/>
          </a:p>
        </p:txBody>
      </p:sp>
      <p:sp>
        <p:nvSpPr>
          <p:cNvPr id="4" name="Text 1"/>
          <p:cNvSpPr/>
          <p:nvPr/>
        </p:nvSpPr>
        <p:spPr>
          <a:xfrm>
            <a:off x="6013772" y="1192634"/>
            <a:ext cx="270197" cy="1688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4C4C4C"/>
                </a:solidFill>
                <a:latin typeface="Noto Serif Light" pitchFamily="34" charset="0"/>
                <a:ea typeface="Noto Serif Light" pitchFamily="34" charset="-122"/>
                <a:cs typeface="Noto Serif Light" pitchFamily="34" charset="-120"/>
              </a:rPr>
              <a:t>01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6013772" y="1403152"/>
            <a:ext cx="2638797" cy="1905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6" name="Text 3"/>
          <p:cNvSpPr/>
          <p:nvPr/>
        </p:nvSpPr>
        <p:spPr>
          <a:xfrm>
            <a:off x="6013772" y="1508745"/>
            <a:ext cx="168897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Import &amp; Inspect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013772" y="1848594"/>
            <a:ext cx="2638797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files.upload(), df.info(), df.describe()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6013772" y="2289721"/>
            <a:ext cx="270197" cy="1688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4C4C4C"/>
                </a:solidFill>
                <a:latin typeface="Noto Serif Light" pitchFamily="34" charset="0"/>
                <a:ea typeface="Noto Serif Light" pitchFamily="34" charset="-122"/>
                <a:cs typeface="Noto Serif Light" pitchFamily="34" charset="-120"/>
              </a:rPr>
              <a:t>02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013772" y="2500238"/>
            <a:ext cx="2638797" cy="1905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10" name="Text 7"/>
          <p:cNvSpPr/>
          <p:nvPr/>
        </p:nvSpPr>
        <p:spPr>
          <a:xfrm>
            <a:off x="6013772" y="2605832"/>
            <a:ext cx="168897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Clean &amp; Engineer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013772" y="2945681"/>
            <a:ext cx="2638797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Missing value treatment, renaming, feature engineering, consistency checks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013772" y="3597920"/>
            <a:ext cx="270197" cy="1688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4C4C4C"/>
                </a:solidFill>
                <a:latin typeface="Noto Serif Light" pitchFamily="34" charset="0"/>
                <a:ea typeface="Noto Serif Light" pitchFamily="34" charset="-122"/>
                <a:cs typeface="Noto Serif Light" pitchFamily="34" charset="-120"/>
              </a:rPr>
              <a:t>03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013772" y="3808437"/>
            <a:ext cx="2638797" cy="1905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14" name="Text 11"/>
          <p:cNvSpPr/>
          <p:nvPr/>
        </p:nvSpPr>
        <p:spPr>
          <a:xfrm>
            <a:off x="6013772" y="3914031"/>
            <a:ext cx="168897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Load to SQL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013772" y="4253880"/>
            <a:ext cx="2638797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SQLAlchemy create_engine() + df.to_sql()</a:t>
            </a:r>
            <a:endParaRPr lang="en-US" sz="1050" dirty="0"/>
          </a:p>
        </p:txBody>
      </p:sp>
      <p:sp>
        <p:nvSpPr>
          <p:cNvPr id="16" name="AutoShape 2">
            <a:extLst>
              <a:ext uri="{FF2B5EF4-FFF2-40B4-BE49-F238E27FC236}">
                <a16:creationId xmlns:a16="http://schemas.microsoft.com/office/drawing/2014/main" id="{4C4F8B90-EE4E-D207-8BC1-C6693E7599B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085603" y="85353"/>
            <a:ext cx="2638797" cy="26387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DF1BBBC2-55B7-EA6D-B385-A21A6DC697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448" y="986360"/>
            <a:ext cx="5589876" cy="187777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36B5B156-C5EE-49D7-C415-BE6061DDE4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448" y="2964732"/>
            <a:ext cx="5589876" cy="208139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4489" y="430932"/>
            <a:ext cx="3839245" cy="352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SQL Analyses Performed</a:t>
            </a:r>
            <a:endParaRPr lang="en-US" sz="2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4489" y="963885"/>
            <a:ext cx="7794947" cy="6777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7559" y="1196876"/>
            <a:ext cx="169441" cy="2117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230585" y="1091133"/>
            <a:ext cx="14120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Revenue by Gender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1230585" y="1321594"/>
            <a:ext cx="7111603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Compare spending across genders to inform targeting.</a:t>
            </a:r>
            <a:endParaRPr lang="en-US" sz="8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4489" y="1731615"/>
            <a:ext cx="7794947" cy="67776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27559" y="1964606"/>
            <a:ext cx="169441" cy="2117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1230585" y="1858863"/>
            <a:ext cx="1848445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High-Spend Discount Users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1230585" y="2089324"/>
            <a:ext cx="7111603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Identify discount-sensitive but high-value customers.</a:t>
            </a:r>
            <a:endParaRPr lang="en-US" sz="8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4489" y="2499345"/>
            <a:ext cx="7794947" cy="67776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27559" y="2732336"/>
            <a:ext cx="169441" cy="2117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1230585" y="2626593"/>
            <a:ext cx="14120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Top-Rated Products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1230585" y="2857054"/>
            <a:ext cx="7111603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Highlight products driving engagement and loyalty.</a:t>
            </a:r>
            <a:endParaRPr lang="en-US" sz="8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4489" y="3267075"/>
            <a:ext cx="7794947" cy="677763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27559" y="3500065"/>
            <a:ext cx="169441" cy="2117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230585" y="3394323"/>
            <a:ext cx="1843236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Shipping Type Comparison</a:t>
            </a:r>
            <a:endParaRPr lang="en-US" sz="1100" dirty="0"/>
          </a:p>
        </p:txBody>
      </p:sp>
      <p:sp>
        <p:nvSpPr>
          <p:cNvPr id="18" name="Text 12"/>
          <p:cNvSpPr/>
          <p:nvPr/>
        </p:nvSpPr>
        <p:spPr>
          <a:xfrm>
            <a:off x="1230585" y="3624783"/>
            <a:ext cx="7111603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Evaluate cost and revenue differences by shipping method.</a:t>
            </a:r>
            <a:endParaRPr lang="en-US" sz="85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4489" y="4034805"/>
            <a:ext cx="7794947" cy="677763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27559" y="4267795"/>
            <a:ext cx="169441" cy="2117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5</a:t>
            </a:r>
            <a:endParaRPr lang="en-US" sz="1300" dirty="0"/>
          </a:p>
        </p:txBody>
      </p:sp>
      <p:sp>
        <p:nvSpPr>
          <p:cNvPr id="21" name="Text 14"/>
          <p:cNvSpPr/>
          <p:nvPr/>
        </p:nvSpPr>
        <p:spPr>
          <a:xfrm>
            <a:off x="1230585" y="4162053"/>
            <a:ext cx="2030834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Subscriber vs Non-Subscriber</a:t>
            </a:r>
            <a:endParaRPr lang="en-US" sz="1100" dirty="0"/>
          </a:p>
        </p:txBody>
      </p:sp>
      <p:sp>
        <p:nvSpPr>
          <p:cNvPr id="22" name="Text 15"/>
          <p:cNvSpPr/>
          <p:nvPr/>
        </p:nvSpPr>
        <p:spPr>
          <a:xfrm>
            <a:off x="1230585" y="4392513"/>
            <a:ext cx="7111603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Measure subscription impact on average order value and frequency.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86185"/>
            <a:ext cx="5665291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Power BI Dashboard &amp; Visuals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5174531" y="1981795"/>
            <a:ext cx="3478039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Connected to Neon PostgreSQL via PostgreSQL connector (drivers installed). Visuals include: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174531" y="2562969"/>
            <a:ext cx="3478039" cy="1332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Revenue Trends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Customer Demographics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Product Performance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Subscription &amp; Retention Analysis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Customer Segmentation</a:t>
            </a:r>
            <a:endParaRPr lang="en-US" sz="11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64544E9-9C75-FA43-A499-CBD49937DD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218" y="1484142"/>
            <a:ext cx="4832253" cy="323556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525363"/>
            <a:ext cx="4190033" cy="4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Results — Key Findings</a:t>
            </a:r>
            <a:endParaRPr lang="en-US" sz="26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25119" y="1127522"/>
            <a:ext cx="1491183" cy="219878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072310" y="1659136"/>
            <a:ext cx="1196801" cy="4153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Age &amp; Revenue</a:t>
            </a:r>
            <a:endParaRPr lang="en-US" sz="1300" dirty="0"/>
          </a:p>
        </p:txBody>
      </p:sp>
      <p:sp>
        <p:nvSpPr>
          <p:cNvPr id="6" name="Text 2"/>
          <p:cNvSpPr/>
          <p:nvPr/>
        </p:nvSpPr>
        <p:spPr>
          <a:xfrm>
            <a:off x="4072310" y="2149227"/>
            <a:ext cx="1196801" cy="823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Certain age groups contribute disproportionately higher revenue.</a:t>
            </a:r>
            <a:endParaRPr lang="en-US" sz="10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40871" y="1127522"/>
            <a:ext cx="1491183" cy="2198787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688062" y="1659136"/>
            <a:ext cx="1196801" cy="4153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Subscription Value</a:t>
            </a:r>
            <a:endParaRPr lang="en-US" sz="1300" dirty="0"/>
          </a:p>
        </p:txBody>
      </p:sp>
      <p:sp>
        <p:nvSpPr>
          <p:cNvPr id="9" name="Text 4"/>
          <p:cNvSpPr/>
          <p:nvPr/>
        </p:nvSpPr>
        <p:spPr>
          <a:xfrm>
            <a:off x="5688062" y="2149227"/>
            <a:ext cx="1196801" cy="823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Subscribers consistently spend more than non-subscribers.</a:t>
            </a:r>
            <a:endParaRPr lang="en-US" sz="10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56624" y="1127522"/>
            <a:ext cx="1491258" cy="2198787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303815" y="1659136"/>
            <a:ext cx="1196876" cy="4153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Discount Effects</a:t>
            </a:r>
            <a:endParaRPr lang="en-US" sz="1300" dirty="0"/>
          </a:p>
        </p:txBody>
      </p:sp>
      <p:sp>
        <p:nvSpPr>
          <p:cNvPr id="12" name="Text 6"/>
          <p:cNvSpPr/>
          <p:nvPr/>
        </p:nvSpPr>
        <p:spPr>
          <a:xfrm>
            <a:off x="7303815" y="2149227"/>
            <a:ext cx="1196876" cy="10298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Discount strategies materially influence purchase behavior.</a:t>
            </a:r>
            <a:endParaRPr lang="en-US" sz="10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25119" y="3450878"/>
            <a:ext cx="4722763" cy="1167185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4072310" y="3982492"/>
            <a:ext cx="16612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Loyalty &amp; Ratings</a:t>
            </a:r>
            <a:endParaRPr lang="en-US" sz="1300" dirty="0"/>
          </a:p>
        </p:txBody>
      </p:sp>
      <p:sp>
        <p:nvSpPr>
          <p:cNvPr id="15" name="Text 8"/>
          <p:cNvSpPr/>
          <p:nvPr/>
        </p:nvSpPr>
        <p:spPr>
          <a:xfrm>
            <a:off x="4072310" y="4264893"/>
            <a:ext cx="4428381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Top-rated products and repeat buyers drive significant revenue.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04676"/>
            <a:ext cx="5481340" cy="401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Recommendations &amp; Conclusion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96119" y="1138982"/>
            <a:ext cx="289024" cy="289024"/>
          </a:xfrm>
          <a:prstGeom prst="roundRect">
            <a:avLst>
              <a:gd name="adj" fmla="val 18670"/>
            </a:avLst>
          </a:prstGeom>
          <a:solidFill>
            <a:srgbClr val="E6DED2">
              <a:alpha val="50000"/>
            </a:srgbClr>
          </a:solidFill>
          <a:ln w="4763">
            <a:solidFill>
              <a:srgbClr val="CCC4B8"/>
            </a:solidFill>
            <a:prstDash val="solid"/>
          </a:ln>
          <a:effectLst>
            <a:outerShdw blurRad="101600" dist="16510" dir="2700000" algn="bl" rotWithShape="0">
              <a:srgbClr val="CCC4B8">
                <a:alpha val="10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01526" y="1183109"/>
            <a:ext cx="1768599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Promote Subscriptions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901526" y="1453604"/>
            <a:ext cx="3597697" cy="5877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Accelerate subscriber growth by offering a stronger trial-to-paid conversion path, emphasizing recurring value, and using targeted win-back campaigns to reduce churn.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644703" y="1138982"/>
            <a:ext cx="289024" cy="289024"/>
          </a:xfrm>
          <a:prstGeom prst="roundRect">
            <a:avLst>
              <a:gd name="adj" fmla="val 18670"/>
            </a:avLst>
          </a:prstGeom>
          <a:solidFill>
            <a:srgbClr val="E6DED2">
              <a:alpha val="50000"/>
            </a:srgbClr>
          </a:solidFill>
          <a:ln w="4763">
            <a:solidFill>
              <a:srgbClr val="CCC4B8"/>
            </a:solidFill>
            <a:prstDash val="solid"/>
          </a:ln>
          <a:effectLst>
            <a:outerShdw blurRad="101600" dist="16510" dir="2700000" algn="bl" rotWithShape="0">
              <a:srgbClr val="CCC4B8">
                <a:alpha val="10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50110" y="1183109"/>
            <a:ext cx="2367558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Personalize Offers by Segment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050110" y="1453604"/>
            <a:ext cx="3597771" cy="5877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Use age, behavior, and purchase history to tailor recommendations, pricing, and promotions to the customer segments most likely to convert and spend more.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96119" y="2274243"/>
            <a:ext cx="289024" cy="289024"/>
          </a:xfrm>
          <a:prstGeom prst="roundRect">
            <a:avLst>
              <a:gd name="adj" fmla="val 18670"/>
            </a:avLst>
          </a:prstGeom>
          <a:solidFill>
            <a:srgbClr val="E6DED2">
              <a:alpha val="50000"/>
            </a:srgbClr>
          </a:solidFill>
          <a:ln w="4763">
            <a:solidFill>
              <a:srgbClr val="CCC4B8"/>
            </a:solidFill>
            <a:prstDash val="solid"/>
          </a:ln>
          <a:effectLst>
            <a:outerShdw blurRad="101600" dist="16510" dir="2700000" algn="bl" rotWithShape="0">
              <a:srgbClr val="CCC4B8">
                <a:alpha val="10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01526" y="2318370"/>
            <a:ext cx="2207121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Protect Margin on Discounts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01526" y="2588865"/>
            <a:ext cx="3597697" cy="5877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Limit broad discounting and shift toward selective, performance-based promotions that lift conversion without eroding revenue from high-intent customers.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44703" y="2274243"/>
            <a:ext cx="289024" cy="289024"/>
          </a:xfrm>
          <a:prstGeom prst="roundRect">
            <a:avLst>
              <a:gd name="adj" fmla="val 18670"/>
            </a:avLst>
          </a:prstGeom>
          <a:solidFill>
            <a:srgbClr val="E6DED2">
              <a:alpha val="50000"/>
            </a:srgbClr>
          </a:solidFill>
          <a:ln w="4763">
            <a:solidFill>
              <a:srgbClr val="CCC4B8"/>
            </a:solidFill>
            <a:prstDash val="solid"/>
          </a:ln>
          <a:effectLst>
            <a:outerShdw blurRad="101600" dist="16510" dir="2700000" algn="bl" rotWithShape="0">
              <a:srgbClr val="CCC4B8">
                <a:alpha val="10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50110" y="2318370"/>
            <a:ext cx="1922562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Invest in Loyalty Drivers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050110" y="2588865"/>
            <a:ext cx="3597771" cy="5877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Strengthen repeat purchase behavior through loyalty rewards, post-purchase engagement, and premium service experiences that increase customer lifetime value.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96119" y="3409504"/>
            <a:ext cx="289024" cy="289024"/>
          </a:xfrm>
          <a:prstGeom prst="roundRect">
            <a:avLst>
              <a:gd name="adj" fmla="val 18670"/>
            </a:avLst>
          </a:prstGeom>
          <a:solidFill>
            <a:srgbClr val="E6DED2">
              <a:alpha val="50000"/>
            </a:srgbClr>
          </a:solidFill>
          <a:ln w="4763">
            <a:solidFill>
              <a:srgbClr val="CCC4B8"/>
            </a:solidFill>
            <a:prstDash val="solid"/>
          </a:ln>
          <a:effectLst>
            <a:outerShdw blurRad="101600" dist="16510" dir="2700000" algn="bl" rotWithShape="0">
              <a:srgbClr val="CCC4B8">
                <a:alpha val="10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01526" y="3453631"/>
            <a:ext cx="2363539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Prioritize High-Value Products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901526" y="3724126"/>
            <a:ext cx="7746355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Focus marketing and merchandising on top-rated, high-margin products that consistently outperform, and bundle them with complementary items to raise average order value.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6119" y="4246959"/>
            <a:ext cx="8151763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Overall, these actions can drive higher revenue, stronger retention, and more efficient growth by focusing on the customers and products with the greatest impact.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244054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References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1970559"/>
            <a:ext cx="4004965" cy="548432"/>
          </a:xfrm>
          <a:prstGeom prst="roundRect">
            <a:avLst>
              <a:gd name="adj" fmla="val 10857"/>
            </a:avLst>
          </a:prstGeom>
          <a:solidFill>
            <a:srgbClr val="FDFBF7"/>
          </a:solidFill>
          <a:ln w="19050">
            <a:solidFill>
              <a:srgbClr val="E6DED2"/>
            </a:solidFill>
            <a:prstDash val="solid"/>
          </a:ln>
          <a:effectLst>
            <a:outerShdw blurRad="101600" dist="17780" dir="2700000" algn="bl" rotWithShape="0">
              <a:srgbClr val="E6DED2">
                <a:alpha val="10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56927" y="2131368"/>
            <a:ext cx="368334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Kaggle Customer Shopping Behavior Dataset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642842" y="1970559"/>
            <a:ext cx="4005039" cy="548432"/>
          </a:xfrm>
          <a:prstGeom prst="roundRect">
            <a:avLst>
              <a:gd name="adj" fmla="val 10857"/>
            </a:avLst>
          </a:prstGeom>
          <a:solidFill>
            <a:srgbClr val="FDFBF7"/>
          </a:solidFill>
          <a:ln w="19050">
            <a:solidFill>
              <a:srgbClr val="E6DED2"/>
            </a:solidFill>
            <a:prstDash val="solid"/>
          </a:ln>
          <a:effectLst>
            <a:outerShdw blurRad="101600" dist="17780" dir="2700000" algn="bl" rotWithShape="0">
              <a:srgbClr val="E6DED2">
                <a:alpha val="10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803651" y="2131368"/>
            <a:ext cx="36834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Python Documentation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96119" y="2660749"/>
            <a:ext cx="4004965" cy="548432"/>
          </a:xfrm>
          <a:prstGeom prst="roundRect">
            <a:avLst>
              <a:gd name="adj" fmla="val 10857"/>
            </a:avLst>
          </a:prstGeom>
          <a:solidFill>
            <a:srgbClr val="FDFBF7"/>
          </a:solidFill>
          <a:ln w="19050">
            <a:solidFill>
              <a:srgbClr val="E6DED2"/>
            </a:solidFill>
            <a:prstDash val="solid"/>
          </a:ln>
          <a:effectLst>
            <a:outerShdw blurRad="101600" dist="17780" dir="2700000" algn="bl" rotWithShape="0">
              <a:srgbClr val="E6DED2">
                <a:alpha val="10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6927" y="2821558"/>
            <a:ext cx="368334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PostgreSQL Documentation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42842" y="2660749"/>
            <a:ext cx="4005039" cy="548432"/>
          </a:xfrm>
          <a:prstGeom prst="roundRect">
            <a:avLst>
              <a:gd name="adj" fmla="val 10857"/>
            </a:avLst>
          </a:prstGeom>
          <a:solidFill>
            <a:srgbClr val="FDFBF7"/>
          </a:solidFill>
          <a:ln w="19050">
            <a:solidFill>
              <a:srgbClr val="E6DED2"/>
            </a:solidFill>
            <a:prstDash val="solid"/>
          </a:ln>
          <a:effectLst>
            <a:outerShdw blurRad="101600" dist="17780" dir="2700000" algn="bl" rotWithShape="0">
              <a:srgbClr val="E6DED2">
                <a:alpha val="10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03651" y="2821558"/>
            <a:ext cx="36834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Neon PostgreSQL Documentation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96119" y="3350940"/>
            <a:ext cx="8151763" cy="548432"/>
          </a:xfrm>
          <a:prstGeom prst="roundRect">
            <a:avLst>
              <a:gd name="adj" fmla="val 10857"/>
            </a:avLst>
          </a:prstGeom>
          <a:solidFill>
            <a:srgbClr val="FDFBF7"/>
          </a:solidFill>
          <a:ln w="19050">
            <a:solidFill>
              <a:srgbClr val="E6DED2"/>
            </a:solidFill>
            <a:prstDash val="solid"/>
          </a:ln>
          <a:effectLst>
            <a:outerShdw blurRad="101600" dist="17780" dir="2700000" algn="bl" rotWithShape="0">
              <a:srgbClr val="E6DED2">
                <a:alpha val="10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56927" y="3511748"/>
            <a:ext cx="783014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Power BI Documentation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583</Words>
  <Application>Microsoft Office PowerPoint</Application>
  <PresentationFormat>On-screen Show (16:9)</PresentationFormat>
  <Paragraphs>101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Noto Serif Medium</vt:lpstr>
      <vt:lpstr>Arial</vt:lpstr>
      <vt:lpstr>Noto Serif Light</vt:lpstr>
      <vt:lpstr>Noto Serif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Tanu Pachauri</cp:lastModifiedBy>
  <cp:revision>2</cp:revision>
  <dcterms:created xsi:type="dcterms:W3CDTF">2026-06-13T07:24:00Z</dcterms:created>
  <dcterms:modified xsi:type="dcterms:W3CDTF">2026-06-13T07:51:10Z</dcterms:modified>
</cp:coreProperties>
</file>